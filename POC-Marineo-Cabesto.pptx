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5B"/>
                </a:solidFill>
                <a:latin typeface="Calibri"/>
              </a:rPr>
              <a:t>CABESTO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E-commerce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4E4"/>
                </a:solidFill>
                <a:latin typeface="Calibri"/>
              </a:rPr>
              <a:t>Mini POC détaillé
Parcours client, commande, logistique et SAV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5B"/>
                </a:solidFill>
                <a:latin typeface="Calibri"/>
              </a:rPr>
              <a:t>Présentation de l’état d’avancement  ·  Alignée sur le document de travail
Version détaillée  · 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Selon la trame du mini POC détaillé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6B1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Contexte, objectifs et périmètre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6B1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Les quatre workflows (A à 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6B1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Écran d’accueil et exemples d’usage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6B1A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Architecture : du message à la réponse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611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6B1A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572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Ce qui est démontrable aujourd’hui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611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6B1A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72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Reste à faire, KPI et suites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Contexte et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Section 1 du document de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53212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B1A"/>
                </a:solidFill>
                <a:latin typeface="Calibri"/>
              </a:rPr>
              <a:t>Contexte Cabesto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Enseigne de loisirs (mer, montagne, alimentation, piscine)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Magasins + site cabesto.com - catalogue très diversifié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Besoins clients : choisir un produit, délais, suivi, retour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Hypothèse : beaucoup de contacts portent sur ces 3 sujets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Le POC cible : choix produit, suivi commande, retours / SAV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53212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B1A"/>
                </a:solidFill>
                <a:latin typeface="Calibri"/>
              </a:rPr>
              <a:t>Objectifs du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Parcours complet : question -&gt; confirmation ou ticket SAV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Fiabilité : prix, stock, statut toujours issus des sources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Garde-fous : authentification, transfert humain, journalisation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Mesurer avec des KPI définis à l’avance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Valider la faisabilité avant intégration aux systèmes réels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Les quatre workflows du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Le parcours en quatre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2743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8229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Identification
et profil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Reconnaître le client avant toute donnée personnelle, sans bloquer l’anonyme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25880"/>
            <a:ext cx="2743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Recherche produit
et commande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747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Trouver le bon produit en langage naturel, puis commander avec validation explicite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743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2743200" cy="8229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Suivi
logistique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Statut exact, anomalies détectées, ouverture d’une demande si besoin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25880"/>
            <a:ext cx="2743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325880"/>
            <a:ext cx="274320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Retours et
réclamations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4747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Qualifier, collecter les preuves, créer un ticket complet, informer le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Écran d’accueil - boutons et intentions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Section 2 : ce que déclenche chaque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11338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017520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Trouver un 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1A"/>
                </a:solidFill>
                <a:latin typeface="Calibri"/>
              </a:rPr>
              <a:t>Recherche produit 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630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« Que cherchez-vous ? Usage, niveau, budget…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21408"/>
            <a:ext cx="3017520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58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Suivre ma commande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258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1A"/>
                </a:solidFill>
                <a:latin typeface="Calibri"/>
              </a:rPr>
              <a:t>Identification puis suivi (A+C)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1284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« Pour retrouver votre commande, je dois vous identifier. 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71215"/>
            <a:ext cx="3017520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08375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Livraison et délais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0837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1A"/>
                </a:solidFill>
                <a:latin typeface="Calibri"/>
              </a:rPr>
              <a:t>Information (+ B ou 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962655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Modes de livraison, délais, ou suivi d’une commande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21024"/>
            <a:ext cx="3017520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5818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Retour ou réclamation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7581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1A"/>
                </a:solidFill>
                <a:latin typeface="Calibri"/>
              </a:rPr>
              <a:t>Identification puis SAV (A+D)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1246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« Je suis désolé pour ce souci. Identifions-nous d’abord. 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70831"/>
            <a:ext cx="3017520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507991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Parler à un conseiller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5079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1A"/>
                </a:solidFill>
                <a:latin typeface="Calibri"/>
              </a:rPr>
              <a:t>Transfert humain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46227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Toujours visible ; résumé de l’échange joint au ticket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120640"/>
            <a:ext cx="3017520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Saisie libre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1A"/>
                </a:solidFill>
                <a:latin typeface="Calibri"/>
              </a:rPr>
              <a:t>Intention détectée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2120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Reformulation + clarification si besoin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Exemples - trouver un produit / un magasin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Dialogues types pour la démonstration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B1A"/>
                </a:solidFill>
                <a:latin typeface="Calibri"/>
              </a:rPr>
              <a:t>Exemple 1 - Trouver un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Client : « Je cherche un masque de snorkeling pour adulte »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Assistant : usage (mer / piscine) + budget ?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Client : « Mer, vacances. Autour de 30 € »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Assistant : 2 options max. avec raison, prix et stock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Client : choisit un article -&gt; ajout panier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Suite : adresse, mode de livraison, « Je confirme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B1A"/>
                </a:solidFill>
                <a:latin typeface="Calibri"/>
              </a:rPr>
              <a:t>Exemple 2 - Trouver un magasin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Client : « Y a-t-il un magasin Cabesto à Aubagne ? »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Assistant : adresse, téléphone, univers du magasin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Client : « Quels magasins autour de Marseille ? »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Assistant : liste courte + lien page magasins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Client : « Horaires du magasin de Montpellier »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-  Règle : réponse issue de la page magasins, pas inventée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Autres exemples de questions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Couvrir le périmètre du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623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371600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Livraison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« Quels sont les délais de livraison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Modes, délais, frais - page livraison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88720"/>
            <a:ext cx="5623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1371600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Suivi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« Où en est ma commande CMD-1101 ?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Après connexion : statut exact + transporteur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34640"/>
            <a:ext cx="5623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017520"/>
            <a:ext cx="1371600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Anomalie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0175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« Mon colis n’a pas bougé depuis 3 jours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Détection retard / suivi bloqué -&gt; ticket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834640"/>
            <a:ext cx="5623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017520"/>
            <a:ext cx="1371600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Retour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0175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« Comment retourner un produit ? 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Info retours (anonyme) ou SAV si réclamation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480560"/>
            <a:ext cx="5623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663440"/>
            <a:ext cx="1371600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6634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« J’ai reçu mon colis, le produit est cassé 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Motif, commande, ticket - sans promesse de remboursement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480560"/>
            <a:ext cx="5623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1371600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Panier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46634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« Ajoute le Lagon au panier puis je commande 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03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Panier -&gt; transporteur -&gt; confirmation explicite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Architecture minimale du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Section 4 - sans dépendance à un éditeur nommé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2743200" cy="21945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Interface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Widget web, boutons,
cartes produit, saisie libre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25880"/>
            <a:ext cx="2743200" cy="21945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Moteur conversationnel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Intentions, clarification,
réponses contrôlées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2743200" cy="2194560"/>
          </a:xfrm>
          <a:prstGeom prst="round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Données /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Catalogue, stock, commandes,
suivi, ticketing (test)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25880"/>
            <a:ext cx="2743200" cy="21945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Sécurité &amp; contrôle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Auth, minimisation,
journalisation, transfert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7763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B1A"/>
                </a:solidFill>
                <a:latin typeface="Calibri"/>
              </a:rPr>
              <a:t>Principe clé (doc)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Le modèle de langage comprend et formule.
Il ne décide ni du prix, ni du stock, ni du statut, ni de la date de livraison :
ces informations viennent des systèmes sources (API / données de test).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Cheminement d’un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Section 4.2 - de la question à la réponse 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1828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Réception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D"/>
                </a:solidFill>
                <a:latin typeface="Calibri"/>
              </a:rPr>
              <a:t>Message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371600"/>
            <a:ext cx="1828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360" y="1554480"/>
            <a:ext cx="640080" cy="640080"/>
          </a:xfrm>
          <a:prstGeom prst="ellipse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Compréhension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D"/>
                </a:solidFill>
                <a:latin typeface="Calibri"/>
              </a:rPr>
              <a:t>Intention + infos clés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1371600"/>
            <a:ext cx="1828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19" y="1554480"/>
            <a:ext cx="640080" cy="640080"/>
          </a:xfrm>
          <a:prstGeom prst="ellipse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19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Droits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D"/>
                </a:solidFill>
                <a:latin typeface="Calibri"/>
              </a:rPr>
              <a:t>Auth requise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19" y="1371600"/>
            <a:ext cx="1828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79" y="1554480"/>
            <a:ext cx="640080" cy="640080"/>
          </a:xfrm>
          <a:prstGeom prst="ellipse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79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D"/>
                </a:solidFill>
                <a:latin typeface="Calibri"/>
              </a:rPr>
              <a:t>Catalogue / docs /
commande / ticket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371600"/>
            <a:ext cx="1828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78239" y="1554480"/>
            <a:ext cx="640080" cy="640080"/>
          </a:xfrm>
          <a:prstGeom prst="ellipse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39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Formulation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D"/>
                </a:solidFill>
                <a:latin typeface="Calibri"/>
              </a:rPr>
              <a:t>Réponse à partir
des seules données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1371600"/>
            <a:ext cx="1828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44200" y="1554480"/>
            <a:ext cx="640080" cy="640080"/>
          </a:xfrm>
          <a:prstGeom prst="ellipse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4420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Contrôle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D"/>
                </a:solidFill>
                <a:latin typeface="Calibri"/>
              </a:rPr>
              <a:t>Garde-fous +
journalisation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251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B1A"/>
                </a:solidFill>
                <a:latin typeface="Calibri"/>
              </a:rPr>
              <a:t>Base de connaissance du POC (anonyme)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6634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Catalogue produits indexé (texte des fiches) + prix / stock relus au moment de l’affichage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Pages site : FAQ, livraison, retours, magasins, CGV - pour répondre avec des extraits et des liens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Si aucune source utile : « Je ne sais pas » + proposition de conseiller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Préparation de la base de connaissance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Première étape : sources -&gt; index -&gt; 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828800" cy="6400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Fiches produits
Pages info &amp;
magasins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1371600"/>
            <a:ext cx="182880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Découpage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8600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Blocs textuels
par section
(sans prix/stock)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371600"/>
            <a:ext cx="182880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Indexation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228600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Représentation
vectorielle
pour la recherche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19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371600"/>
            <a:ext cx="182880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19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Recherche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28600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Question client
-&gt; extraits
les plus proches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371600"/>
            <a:ext cx="182880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Hydratation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28600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Prix, stock,
image lus en
temps réel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49840" y="1371600"/>
            <a:ext cx="1828800" cy="6400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Réponse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28600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Formulation
contrôlée +
cartes produit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Pourquoi séparer prix/stock de l’index ? Pour éviter d’afficher une donnée obsolète inventée par le modèle.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Les parcours compte (suivi, SAV) s’appuient sur les commandes / tickets du profil connecté, pas sur la recherche catalogue.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Identification et périmètre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Workflow A + tableau « ce qui est autorisé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4E"/>
                </a:solidFill>
                <a:latin typeface="Calibri"/>
              </a:rPr>
              <a:t>Anonyme - autorisé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Trouver un produit (prix, stock, photo)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Infos livraison, retours, FAQ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Trouver un magasin / une ville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Panier (sans commande liée au compte)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Interdit : voir une commande, ticket SAV lié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B1A"/>
                </a:solidFill>
                <a:latin typeface="Calibri"/>
              </a:rPr>
              <a:t>Connecté - autorisé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Suivre une commande (statut source)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Retour / réclamation + création ticket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Checkout conversationnel avec confirmation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Handoff conseiller avec résumé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Dans le POC : connexion site (OTP non imposé)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Ce qui est démontrable aujourd’hui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Alignement avec les 4 workflows du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325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B - 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Recherche langage naturel, cartes (photo, prix, stock), ajout panier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25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B - Commande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Panier chat, choix transporteur, confirmation explicite, référence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42316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Info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Livraison, retours, FAQ, magasins (ex. ville) via pages indexées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2316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 - Accès compte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Gate login avant suivi / SAV ; reprise du besoin après connexion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65760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94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94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 - Suivi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Numéro de commande (ex. CMD-1101), statut multi-états, pas d’invention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65760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794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794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D - SAV guidé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Commande -&gt; motif -&gt; détails -&gt; ticket ; mémoire de parcours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89204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029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029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Transfert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Parler à un conseiller + résumé ; 2 échecs -&gt; proposition humaine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92040"/>
            <a:ext cx="5623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029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7A4E"/>
                </a:solidFill>
                <a:latin typeface="Calibri"/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029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Garde-fous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Pas de promesse de remboursement ; pas de tableau inventé de prix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Scénarios de démonstration (10-12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Section 6 du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7033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7033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Achat assisté (~3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Recherche produit fictif + clarification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2 options avec raison / prix / stock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Panier + confirmation explicite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Cas limite : produit en rupture -&gt; alternatives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033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280160"/>
            <a:ext cx="3703320" cy="7772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173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Suivi de commande (~2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Client connecté + n° de commande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Statut = donnée source (100 %)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Fenêtre / transporteur si disponible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Cas limite : retard -&gt; proposition ticket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7033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7033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4173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Réclamation (~3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Colis endommagé / motif qualifié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Sélection commande + description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Ticket avec champs structurés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Cas limite : hors règles -&gt; conseiller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Reste à faire (vs document)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Écarts par rapport au mini POC détaillé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B1A"/>
                </a:solidFill>
                <a:latin typeface="Calibri"/>
              </a:rPr>
              <a:t>Fonctionnel encore partiel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OTP email/SMS (le POC actuel utilise la connexion site)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Photos / pièces jointes dans le parcours SAV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Paiement sandbox hébergé (confirmation simulée aujourd’hui)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Tableau de bord KPI (journal d’événements déjà amorcé)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Notifications email à chaque étape du ticket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B1A"/>
                </a:solidFill>
                <a:latin typeface="Calibri"/>
              </a:rPr>
              <a:t>Cadrage / industrialisation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Jeu de recette ~30 cas + mesure des 5 KPI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Règles d’éligibilité retours validées avec juridique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Intégrations réelles (lecture seule) post go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Canal WhatsApp : hors périmètre POC (après)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Multilingue : hors périmètre (français seulement)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KPI de succès (propositions du document)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Section 7 - cibles à ajuster avec Cabesto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99032"/>
            <a:ext cx="2194560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Expérience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Taux de parcours terminés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86B1A"/>
                </a:solidFill>
                <a:latin typeface="Calibri"/>
              </a:rPr>
              <a:t>&gt;= 90 %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313432"/>
            <a:ext cx="2194560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77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Ajout panier après recommandation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86B1A"/>
                </a:solidFill>
                <a:latin typeface="Calibri"/>
              </a:rPr>
              <a:t>&gt;= 40 %*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6324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27832"/>
            <a:ext cx="2194560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Résolution sans conseiller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86B1A"/>
                </a:solidFill>
                <a:latin typeface="Calibri"/>
              </a:rPr>
              <a:t>&gt;= 70 %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77639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142231"/>
            <a:ext cx="2194560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062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Logistique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2062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Exactitude du statut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2062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86B1A"/>
                </a:solidFill>
                <a:latin typeface="Calibri"/>
              </a:rPr>
              <a:t>100 %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056632"/>
            <a:ext cx="2194560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Ticket avec tous les champs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86B1A"/>
                </a:solidFill>
                <a:latin typeface="Calibri"/>
              </a:rPr>
              <a:t>100 %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Calibri"/>
              </a:rPr>
              <a:t>* indicatif en test  |  Indicateur transversal : 0 donnée inventée (prix / stock / statut)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Dans / hors périmètre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5B"/>
                </a:solidFill>
                <a:latin typeface="Calibri"/>
              </a:rPr>
              <a:t>Section 1.3 du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20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A65B"/>
                </a:solidFill>
                <a:latin typeface="Calibri"/>
              </a:rPr>
              <a:t>Mini POC Cabesto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7A4E"/>
                </a:solidFill>
                <a:latin typeface="Calibri"/>
              </a:rPr>
              <a:t>Dans le périmètre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Widget web responsive (site + mobile web)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4 workflows : ID, produit/commande, suivi, SAV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Données / commandes / profils fictifs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Paiement simulé (ou page de test)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Tickets de test + transfert conseiller (simulé)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03A2E"/>
                </a:solidFill>
                <a:latin typeface="Calibri"/>
              </a:rPr>
              <a:t>Hors périmètre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Remplacement du site / OMS / CRM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Paiement réel et données bancaires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Données clients réelles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App native / WhatsApp (après POC)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-  Multilingue ; gestes commerciaux hors règles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Calibri"/>
              </a:rPr>
              <a:t>Cabesto - Mini POC chatbot  |  Document de travail  |  Confidentiel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D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5B"/>
                </a:solidFill>
                <a:latin typeface="Calibri"/>
              </a:rP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Le mini POC montre un assistant unique capable de :
trouver un produit, un magasin, informer (livraison / retours),
suivre une commande et ouvrir un SAV - avec des faits issus des sources,
pas inventés par le modèle.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65B"/>
                </a:solidFill>
                <a:latin typeface="Calibri"/>
              </a:rPr>
              <a:t>Suite : finaliser OTP / photos SAV / KPI de recette, puis décision go / no-go.
Merci.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